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AC7F2-888B-B924-F1FF-39EA890DA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6B62E1-7D4D-02F1-7885-BF87007C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1543FE-0E4F-CB35-BF8A-2282719BB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3B856F-050D-2B35-67DC-C36AD86A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412DB-9189-892C-E058-6033BA84A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407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F0931-DDE6-B35C-DD70-84D71CFF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C009B-4AA2-486A-053C-8B3A4BDC4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5369F2-4440-1471-C42D-577ED81B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38705-BF5F-A41E-E358-BD0A7F981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BBDCF1-1CB8-4865-17FC-ED65E6FD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09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3B012-D7D0-E708-5ADA-5AF3D35C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819DA9-FCD4-A842-90D4-309860112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D146F3-5693-7C06-A9D8-307F2EE0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727D3-BC2C-2A34-10CC-4342A1B6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2B02B-EC15-A72F-A2A3-E33CC71C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07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05790-9AF4-A0DC-9669-57C89CE6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53B848-AED5-2667-B633-EDC6EE99B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25CB88-5E87-A280-7832-58B0E61F1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9E76BE-4E48-E9C4-685F-BF7DCD05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D7D949-4394-8FC6-24BA-B5CFFF63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41D04C-5049-4946-5CB0-E3466F8A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43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E4BF0-9DB1-F25E-D422-7C70A412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806D39-BE51-D11F-62F8-E0C639B6F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7EB6BA-C5A2-5B2F-D977-71D0F8AEF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7A0C32-FB51-450F-0019-4DE8227F2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E67853-C6E6-9BA6-9D6A-ED91A298E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2214F0-6502-B53E-F375-4A26E3AD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2E8BE6-A94E-C137-05E1-108A9AFD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BCE75E-6ED3-F403-CC8B-FDA4A9FF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5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98BF6-AD52-2528-208F-F30D8369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BB267C-0128-A133-A361-21E7BE57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62FE8E-E26E-E70E-3C1B-C26CE909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A1F174-5570-743F-E0FF-EAA5C4A1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23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DFFB3E-D542-6FBF-8F0E-D6B6A3E6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D46329-FA6F-9877-221B-DE137917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2C80B2-B272-0FC4-9A97-FE1B7F69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70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B8BB0-485D-C234-82CD-874A1CD71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EB69BC-73C2-EA70-2CE5-708C82EAE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0340A1-A8D2-9BEC-DC71-A9333F582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23EF56-8F6E-FA18-48A2-DF647987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2DC221-611F-FDD8-FD96-65EC98F0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A8986D-C34A-EA9D-8A61-87CD9C1A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63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50883-E5D5-638D-24F8-C0883642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FECD5B6-A011-53DB-4AFA-6E625DB45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BAA0A8-10D1-1788-8279-0AF3B944C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D51D76-A3BC-FB91-7117-30995FC8C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33224F-8F7E-C486-29C0-AB6CA36E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EC0C9E-18DB-2D23-ECDF-E6D5D019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49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5142C-BA56-39D1-3CF5-1EE34A0F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8C8853-8670-F580-5195-BEE603EE0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BA1BB-EE95-AD1F-16EA-5A4C3FE6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19DFD-A228-0234-4E54-8832A940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C79CEB-F9B3-96BD-C92B-8CB2E7605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55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732676-D4FB-973F-79C7-C7D5D948B8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2F32F9-3121-4EDC-778A-0415DFE90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BFD455-84B4-F816-2A81-4EC1BA77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DF9802-E8EF-761D-5080-18642687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8720A-AFD6-3DF1-7154-C6C319DD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38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BEDCC8-B48A-6DBF-C75A-29DCA584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84FCB7-79A8-AE48-8FE6-811ACFB18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D1BB7D-C21E-6AEA-E1AE-9C1C91669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E7298-3BC3-4B82-975C-2D286C5D2EE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481221-426D-7359-1882-1FB0C62B4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5F42E1-7923-12BF-333B-6FF8E733F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BAD81-73AA-403F-925C-CDEF94088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20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2.&#23545;@LLM&#25512;&#29702;&#28145;&#24230;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59479-F3F3-6927-B4D6-73F60DED64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第二次汇报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6CE055-D3DE-F433-4531-0838C8AF1C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何俊杰 </a:t>
            </a:r>
            <a:r>
              <a:rPr lang="en-US" altLang="zh-CN" dirty="0"/>
              <a:t>5.20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223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921ED-12EF-164C-B566-7DC6666C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935BF2-C269-5B51-5323-E84D07056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新读的论文</a:t>
            </a:r>
            <a:endParaRPr lang="en-US" altLang="zh-CN" dirty="0"/>
          </a:p>
          <a:p>
            <a:r>
              <a:rPr lang="zh-CN" altLang="en-US" dirty="0">
                <a:hlinkClick r:id="rId2"/>
              </a:rPr>
              <a:t>对</a:t>
            </a:r>
            <a:r>
              <a:rPr lang="en-US" altLang="zh-CN" dirty="0">
                <a:hlinkClick r:id="rId2"/>
              </a:rPr>
              <a:t>@LLM</a:t>
            </a:r>
            <a:r>
              <a:rPr lang="zh-CN" altLang="en-US" dirty="0">
                <a:hlinkClick r:id="rId2"/>
              </a:rPr>
              <a:t>推理深度</a:t>
            </a:r>
            <a:r>
              <a:rPr lang="zh-CN" altLang="en-US" dirty="0"/>
              <a:t> 理论部分笔记</a:t>
            </a:r>
            <a:r>
              <a:rPr lang="en-US" altLang="zh-CN" dirty="0"/>
              <a:t>.md</a:t>
            </a:r>
            <a:r>
              <a:rPr lang="zh-CN" altLang="en-US" dirty="0"/>
              <a:t>的理解</a:t>
            </a:r>
          </a:p>
        </p:txBody>
      </p:sp>
    </p:spTree>
    <p:extLst>
      <p:ext uri="{BB962C8B-B14F-4D97-AF65-F5344CB8AC3E}">
        <p14:creationId xmlns:p14="http://schemas.microsoft.com/office/powerpoint/2010/main" val="389098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A6ED3-A9C1-9011-E381-E3DA63C5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B85EA1-16B2-2A81-D01A-3DFF13093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7855"/>
            <a:ext cx="9912927" cy="336910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首次明确界定并系统证明了大型语言模型中存在“隐藏知识”</a:t>
            </a:r>
            <a:endParaRPr lang="en-US" altLang="zh-CN" dirty="0"/>
          </a:p>
          <a:p>
            <a:r>
              <a:rPr lang="zh-CN" altLang="en-US" dirty="0"/>
              <a:t>提出“知识”量化框架及其分类：外部、内部、隐藏</a:t>
            </a:r>
            <a:endParaRPr lang="en-US" altLang="zh-CN" dirty="0"/>
          </a:p>
          <a:p>
            <a:r>
              <a:rPr lang="zh-CN" altLang="en-US" b="1" dirty="0"/>
              <a:t>现象：</a:t>
            </a:r>
            <a:r>
              <a:rPr lang="en-US" altLang="zh-CN" b="1" dirty="0"/>
              <a:t>9%</a:t>
            </a:r>
            <a:r>
              <a:rPr lang="zh-CN" altLang="en-US" dirty="0"/>
              <a:t> 的严重案例中，大模型在内部能够以 </a:t>
            </a:r>
            <a:r>
              <a:rPr lang="en-US" altLang="zh-CN" dirty="0"/>
              <a:t>100% </a:t>
            </a:r>
            <a:r>
              <a:rPr lang="zh-CN" altLang="en-US" dirty="0"/>
              <a:t>的完美正确率将正确答案置顶，但在外部采样 </a:t>
            </a:r>
            <a:r>
              <a:rPr lang="en-US" altLang="zh-CN" dirty="0"/>
              <a:t>1000 </a:t>
            </a:r>
            <a:r>
              <a:rPr lang="zh-CN" altLang="en-US" dirty="0"/>
              <a:t>次也</a:t>
            </a:r>
            <a:r>
              <a:rPr lang="zh-CN" altLang="en-US" b="1" dirty="0"/>
              <a:t>一次都无法自回归生成</a:t>
            </a:r>
            <a:r>
              <a:rPr lang="zh-CN" altLang="en-US" dirty="0"/>
              <a:t>该答案 。这确证了自回归生成机制在调用内部逻辑时存在刚性的物理阻断 </a:t>
            </a:r>
            <a:endParaRPr lang="en-US" altLang="zh-CN" dirty="0"/>
          </a:p>
          <a:p>
            <a:r>
              <a:rPr lang="zh-CN" altLang="en-US" dirty="0"/>
              <a:t>提供改进路径：利用内部评分函数（基于隐藏状态的线性分类器）筛选采样答案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17760F-55DB-11F2-ED82-37090BF4C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781" y="365125"/>
            <a:ext cx="7701982" cy="22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6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DDA94-1662-4866-FB77-E9452D97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与我们工作的联系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9784F4-8AD4-762B-777F-299D441E7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论文发现不同模型（如</a:t>
            </a:r>
            <a:r>
              <a:rPr lang="en-US" altLang="zh-CN" sz="2400" dirty="0"/>
              <a:t>Gemma</a:t>
            </a:r>
            <a:r>
              <a:rPr lang="zh-CN" altLang="en-US" sz="2400" dirty="0"/>
              <a:t>隐藏知识差距达</a:t>
            </a:r>
            <a:r>
              <a:rPr lang="en-US" altLang="zh-CN" sz="2400" dirty="0"/>
              <a:t>57%</a:t>
            </a:r>
            <a:r>
              <a:rPr lang="zh-CN" altLang="en-US" sz="2400" dirty="0"/>
              <a:t>，</a:t>
            </a:r>
            <a:r>
              <a:rPr lang="en-US" altLang="zh-CN" sz="2400" dirty="0"/>
              <a:t>Llama</a:t>
            </a:r>
            <a:r>
              <a:rPr lang="zh-CN" altLang="en-US" sz="2400" dirty="0"/>
              <a:t>仅</a:t>
            </a:r>
            <a:r>
              <a:rPr lang="en-US" altLang="zh-CN" sz="2400" dirty="0"/>
              <a:t>14%</a:t>
            </a:r>
            <a:r>
              <a:rPr lang="zh-CN" altLang="en-US" sz="2400" dirty="0"/>
              <a:t>）的“隐藏知识”量差异显著，并指出这可能源于</a:t>
            </a:r>
            <a:r>
              <a:rPr lang="zh-CN" altLang="en-US" sz="2400" b="1" dirty="0"/>
              <a:t>训练数据、方法或架构的不同</a:t>
            </a:r>
            <a:r>
              <a:rPr lang="zh-CN" altLang="en-US" sz="2400" dirty="0"/>
              <a:t>。</a:t>
            </a:r>
            <a:r>
              <a:rPr lang="en-US" altLang="zh-CN" sz="2400" dirty="0"/>
              <a:t>-&gt;</a:t>
            </a:r>
            <a:r>
              <a:rPr lang="zh-CN" altLang="en-US" sz="2400" dirty="0"/>
              <a:t>可以将“隐藏知识”的差距作为一个观测指标，或者说为表述“推理能力”提供了一个可观测的中间变量，探究不同数据比例下模型内部逻辑表征与外部推理输出的对齐程度。</a:t>
            </a:r>
            <a:endParaRPr lang="en-US" altLang="zh-CN" sz="2400" dirty="0"/>
          </a:p>
          <a:p>
            <a:r>
              <a:rPr lang="zh-CN" altLang="en-US" sz="2400" dirty="0"/>
              <a:t>提供“隐藏层信噪比”的直接物证（可用于标定</a:t>
            </a:r>
            <a:r>
              <a:rPr lang="en-US" altLang="zh-CN" sz="2400" dirty="0"/>
              <a:t>β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9084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1F5905-E39C-1C3E-F5B5-A34F435A54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5320" y="872724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/>
                  <a:t>1</a:t>
                </a:r>
                <a:r>
                  <a:rPr lang="zh-CN" altLang="en-US" sz="2400" dirty="0"/>
                  <a:t>、关于新定义，能否扎实标定深度和广度区别？</a:t>
                </a:r>
                <a:endParaRPr lang="en-US" altLang="zh-CN" sz="2400" dirty="0"/>
              </a:p>
              <a:p>
                <a:r>
                  <a:rPr lang="zh-CN" altLang="en-US" sz="2400" dirty="0"/>
                  <a:t>新定义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400" i="1"/>
                          <m:t>eff</m:t>
                        </m:r>
                      </m:sub>
                    </m:sSub>
                  </m:oMath>
                </a14:m>
                <a:r>
                  <a:rPr lang="zh-CN" altLang="en-US" sz="2400" dirty="0"/>
                  <a:t> 将深度和宽度解耦为两个正交维度：单次广度搜寻</a:t>
                </a:r>
                <a:r>
                  <a:rPr lang="en-US" altLang="zh-CN" sz="2400" dirty="0"/>
                  <a:t>+</a:t>
                </a:r>
                <a:r>
                  <a:rPr lang="zh-CN" altLang="en-US" sz="2400" dirty="0"/>
                  <a:t>长程深度惩罚项，从有噪信道模型严格推导而来。</a:t>
                </a:r>
                <a:endParaRPr lang="en-US" altLang="zh-CN" sz="2400" dirty="0"/>
              </a:p>
              <a:p>
                <a:r>
                  <a:rPr lang="en-US" altLang="zh-CN" sz="2400" dirty="0"/>
                  <a:t>2</a:t>
                </a:r>
                <a:r>
                  <a:rPr lang="zh-CN" altLang="en-US" sz="2400" dirty="0"/>
                  <a:t>、新的逻辑熵定义能不能和随机熵结合并用于掺杂实验？</a:t>
                </a:r>
                <a:endParaRPr lang="en-US" altLang="zh-CN" sz="2400" dirty="0"/>
              </a:p>
              <a:p>
                <a:r>
                  <a:rPr lang="zh-CN" altLang="en-US" sz="2400" dirty="0"/>
                  <a:t>单位都是</a:t>
                </a:r>
                <a:r>
                  <a:rPr lang="en-US" altLang="zh-CN" sz="2400" dirty="0"/>
                  <a:t>bits</a:t>
                </a:r>
                <a:r>
                  <a:rPr lang="zh-CN" altLang="en-US" sz="2400" dirty="0"/>
                  <a:t>，且度量方式一致，两者可以直接相减，得到“物理可实现的压缩量”，</a:t>
                </a:r>
                <a:r>
                  <a:rPr lang="zh-CN" altLang="en-US" sz="2400" b="1" dirty="0"/>
                  <a:t>代表了模型通过掌握逻辑规律，相比于“死记硬背</a:t>
                </a:r>
                <a:r>
                  <a:rPr lang="en-US" altLang="zh-CN" sz="2400" b="1" dirty="0"/>
                  <a:t>/</a:t>
                </a:r>
                <a:r>
                  <a:rPr lang="zh-CN" altLang="en-US" sz="2400" b="1" dirty="0"/>
                  <a:t>随机瞎猜”所能节省下来的比特总数。</a:t>
                </a:r>
                <a:endParaRPr lang="en-US" altLang="zh-CN" sz="2400" b="1" dirty="0"/>
              </a:p>
              <a:p>
                <a:r>
                  <a:rPr lang="en-US" altLang="zh-CN" sz="2400" dirty="0"/>
                  <a:t>3</a:t>
                </a:r>
                <a:r>
                  <a:rPr lang="zh-CN" altLang="en-US" sz="2400" dirty="0"/>
                  <a:t>、</a:t>
                </a:r>
                <a:r>
                  <a:rPr lang="zh-CN" altLang="en-US" dirty="0"/>
                  <a:t>掺杂实验的设计思路：</a:t>
                </a:r>
              </a:p>
              <a:p>
                <a:endParaRPr lang="zh-CN" altLang="en-US" sz="24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1F5905-E39C-1C3E-F5B5-A34F435A54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5320" y="872724"/>
                <a:ext cx="10515600" cy="4351338"/>
              </a:xfrm>
              <a:blipFill>
                <a:blip r:embed="rId2"/>
                <a:stretch>
                  <a:fillRect l="-812" t="-1821" r="-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A8022E86-3457-9AE1-94C5-DFE6B937D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484" y="4561547"/>
            <a:ext cx="4266667" cy="180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1FE18D-C8A9-E998-2DA6-73AB8A323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694" y="3571071"/>
            <a:ext cx="4219048" cy="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5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5BFCA-2122-BED5-EB4B-F4372761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β </a:t>
            </a:r>
            <a:r>
              <a:rPr lang="zh-CN" altLang="en-US" b="1" dirty="0"/>
              <a:t>是否可以测量？如何测量？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15BFE6-30E6-9AE3-2848-12E125CB2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二维网格实验</a:t>
            </a:r>
          </a:p>
        </p:txBody>
      </p:sp>
    </p:spTree>
    <p:extLst>
      <p:ext uri="{BB962C8B-B14F-4D97-AF65-F5344CB8AC3E}">
        <p14:creationId xmlns:p14="http://schemas.microsoft.com/office/powerpoint/2010/main" val="2206379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</TotalTime>
  <Words>357</Words>
  <Application>Microsoft Office PowerPoint</Application>
  <PresentationFormat>宽屏</PresentationFormat>
  <Paragraphs>19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Office 主题​​</vt:lpstr>
      <vt:lpstr>第二次汇报</vt:lpstr>
      <vt:lpstr>目录</vt:lpstr>
      <vt:lpstr>PowerPoint 演示文稿</vt:lpstr>
      <vt:lpstr>与我们工作的联系</vt:lpstr>
      <vt:lpstr>PowerPoint 演示文稿</vt:lpstr>
      <vt:lpstr>β 是否可以测量？如何测量？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俊杰 何</dc:creator>
  <cp:lastModifiedBy>俊杰 何</cp:lastModifiedBy>
  <cp:revision>4</cp:revision>
  <dcterms:created xsi:type="dcterms:W3CDTF">2026-05-20T09:13:58Z</dcterms:created>
  <dcterms:modified xsi:type="dcterms:W3CDTF">2026-05-23T14:49:14Z</dcterms:modified>
</cp:coreProperties>
</file>